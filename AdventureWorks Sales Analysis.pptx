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9" r:id="rId20"/>
    <p:sldId id="280" r:id="rId21"/>
    <p:sldId id="274" r:id="rId22"/>
    <p:sldId id="276" r:id="rId23"/>
    <p:sldId id="277" r:id="rId24"/>
  </p:sldIdLst>
  <p:sldSz cx="12192000" cy="6858000"/>
  <p:notesSz cx="6858000" cy="9144000"/>
  <p:embeddedFontLst>
    <p:embeddedFont>
      <p:font typeface="Inter" panose="020B0604020202020204" charset="0"/>
      <p:regular r:id="rId26"/>
      <p:bold r:id="rId27"/>
      <p:italic r:id="rId28"/>
      <p:boldItalic r:id="rId29"/>
    </p:embeddedFont>
    <p:embeddedFont>
      <p:font typeface="Inter SemiBold" panose="020B0604020202020204" charset="0"/>
      <p:regular r:id="rId30"/>
      <p:bold r:id="rId31"/>
      <p:italic r:id="rId32"/>
      <p:boldItalic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7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" name="Google Shape;31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7" name="Google Shape;33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" name="Google Shape;34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5" name="Google Shape;35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2" name="Google Shape;37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7" name="Google Shape;387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4" name="Google Shape;414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2" name="Google Shape;432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2" name="Google Shape;442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9" name="Google Shape;459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2" name="Google Shape;512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6" name="Google Shape;526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9.png"/><Relationship Id="rId3" Type="http://schemas.openxmlformats.org/officeDocument/2006/relationships/image" Target="../media/image1.png"/><Relationship Id="rId7" Type="http://schemas.openxmlformats.org/officeDocument/2006/relationships/image" Target="../media/image23.png"/><Relationship Id="rId12" Type="http://schemas.openxmlformats.org/officeDocument/2006/relationships/image" Target="../media/image2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1.png"/><Relationship Id="rId7" Type="http://schemas.openxmlformats.org/officeDocument/2006/relationships/image" Target="../media/image37.png"/><Relationship Id="rId12" Type="http://schemas.openxmlformats.org/officeDocument/2006/relationships/image" Target="../media/image4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11" Type="http://schemas.openxmlformats.org/officeDocument/2006/relationships/image" Target="../media/image41.png"/><Relationship Id="rId5" Type="http://schemas.openxmlformats.org/officeDocument/2006/relationships/image" Target="../media/image35.png"/><Relationship Id="rId10" Type="http://schemas.openxmlformats.org/officeDocument/2006/relationships/image" Target="../media/image40.png"/><Relationship Id="rId4" Type="http://schemas.openxmlformats.org/officeDocument/2006/relationships/image" Target="../media/image34.png"/><Relationship Id="rId9" Type="http://schemas.openxmlformats.org/officeDocument/2006/relationships/image" Target="../media/image3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1.pn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Relationship Id="rId9" Type="http://schemas.openxmlformats.org/officeDocument/2006/relationships/image" Target="../media/image4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3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image" Target="../media/image1.png"/><Relationship Id="rId7" Type="http://schemas.openxmlformats.org/officeDocument/2006/relationships/image" Target="../media/image5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4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6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7.png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147762"/>
            <a:ext cx="110490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295275" y="2386012"/>
            <a:ext cx="11601450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00509E"/>
                </a:solidFill>
                <a:latin typeface="Inter"/>
                <a:ea typeface="Inter"/>
                <a:cs typeface="Inter"/>
                <a:sym typeface="Inter"/>
              </a:rPr>
              <a:t>AdventureWorks Sales Analysis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95275" y="3224212"/>
            <a:ext cx="116014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Excel Based Project</a:t>
            </a:r>
            <a:endParaRPr/>
          </a:p>
        </p:txBody>
      </p:sp>
      <p:sp>
        <p:nvSpPr>
          <p:cNvPr id="88" name="Google Shape;88;p13"/>
          <p:cNvSpPr/>
          <p:nvPr/>
        </p:nvSpPr>
        <p:spPr>
          <a:xfrm>
            <a:off x="5810250" y="3881437"/>
            <a:ext cx="571500" cy="381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571500" y="4338637"/>
            <a:ext cx="110490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By S KARTHIK</a:t>
            </a:r>
            <a:endParaRPr dirty="0"/>
          </a:p>
        </p:txBody>
      </p:sp>
      <p:pic>
        <p:nvPicPr>
          <p:cNvPr id="91" name="Google Shape;91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38812" y="1338262"/>
            <a:ext cx="714375" cy="57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904875" y="1485900"/>
            <a:ext cx="7520668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76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Global Manufacturer: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Adventure Works Cycles is a large multinational bicycle manufacturing company.</a:t>
            </a:r>
            <a:endParaRPr dirty="0"/>
          </a:p>
        </p:txBody>
      </p:sp>
      <p:sp>
        <p:nvSpPr>
          <p:cNvPr id="100" name="Google Shape;100;p14"/>
          <p:cNvSpPr txBox="1"/>
          <p:nvPr/>
        </p:nvSpPr>
        <p:spPr>
          <a:xfrm>
            <a:off x="904874" y="2209800"/>
            <a:ext cx="7390039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76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Product Lines: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Manufactures metal and composite bicycles for North America, Europe, and Asia.</a:t>
            </a:r>
            <a:endParaRPr dirty="0"/>
          </a:p>
        </p:txBody>
      </p:sp>
      <p:sp>
        <p:nvSpPr>
          <p:cNvPr id="101" name="Google Shape;101;p14"/>
          <p:cNvSpPr txBox="1"/>
          <p:nvPr/>
        </p:nvSpPr>
        <p:spPr>
          <a:xfrm>
            <a:off x="904875" y="2933700"/>
            <a:ext cx="752066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76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Headquarters: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Bothell, Washington with 290 employees.</a:t>
            </a:r>
            <a:endParaRPr dirty="0"/>
          </a:p>
        </p:txBody>
      </p:sp>
      <p:sp>
        <p:nvSpPr>
          <p:cNvPr id="102" name="Google Shape;102;p14"/>
          <p:cNvSpPr txBox="1"/>
          <p:nvPr/>
        </p:nvSpPr>
        <p:spPr>
          <a:xfrm>
            <a:off x="904875" y="3657600"/>
            <a:ext cx="76295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76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Operations: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Regional sales teams across global markets.</a:t>
            </a:r>
            <a:endParaRPr dirty="0"/>
          </a:p>
        </p:txBody>
      </p:sp>
      <p:sp>
        <p:nvSpPr>
          <p:cNvPr id="103" name="Google Shape;103;p14"/>
          <p:cNvSpPr txBox="1"/>
          <p:nvPr/>
        </p:nvSpPr>
        <p:spPr>
          <a:xfrm>
            <a:off x="904875" y="4381500"/>
            <a:ext cx="762952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76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Key Acquisition: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Acquired a Mexico plant in early 2000s; sole manufacturer of touring bikes since 2001.</a:t>
            </a:r>
            <a:endParaRPr dirty="0"/>
          </a:p>
        </p:txBody>
      </p:sp>
      <p:sp>
        <p:nvSpPr>
          <p:cNvPr id="104" name="Google Shape;104;p14"/>
          <p:cNvSpPr txBox="1"/>
          <p:nvPr/>
        </p:nvSpPr>
        <p:spPr>
          <a:xfrm>
            <a:off x="904875" y="5410200"/>
            <a:ext cx="7629524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76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Strategic Goals: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Expand market share, launch online sales, and reduce production costs after a strong fiscal year.</a:t>
            </a:r>
            <a:endParaRPr dirty="0"/>
          </a:p>
        </p:txBody>
      </p:sp>
      <p:sp>
        <p:nvSpPr>
          <p:cNvPr id="105" name="Google Shape;105;p14"/>
          <p:cNvSpPr txBox="1"/>
          <p:nvPr/>
        </p:nvSpPr>
        <p:spPr>
          <a:xfrm>
            <a:off x="619125" y="1485900"/>
            <a:ext cx="104775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78D4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619125" y="2209800"/>
            <a:ext cx="104775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78D4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619125" y="2933700"/>
            <a:ext cx="104775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78D4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619125" y="3657600"/>
            <a:ext cx="104775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78D4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619125" y="4381500"/>
            <a:ext cx="104775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78D4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619125" y="5410200"/>
            <a:ext cx="104775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78D4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571500" y="476250"/>
            <a:ext cx="1160145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Company Background</a:t>
            </a:r>
            <a:endParaRPr/>
          </a:p>
        </p:txBody>
      </p:sp>
      <p:sp>
        <p:nvSpPr>
          <p:cNvPr id="112" name="Google Shape;112;p14"/>
          <p:cNvSpPr/>
          <p:nvPr/>
        </p:nvSpPr>
        <p:spPr>
          <a:xfrm>
            <a:off x="571500" y="108585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677566"/>
            <a:ext cx="3492549" cy="25125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677566"/>
            <a:ext cx="3492549" cy="25125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677566"/>
            <a:ext cx="3492549" cy="2512516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5"/>
          <p:cNvSpPr txBox="1"/>
          <p:nvPr/>
        </p:nvSpPr>
        <p:spPr>
          <a:xfrm>
            <a:off x="694212" y="3611016"/>
            <a:ext cx="3247124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Data Preparation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771525" y="4011066"/>
            <a:ext cx="3092499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Analyze AdventureWorks sales data in Excel. Clean, prepare, and structure raw data for analysis.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4472512" y="3611016"/>
            <a:ext cx="3247124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Calculation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4549824" y="4011066"/>
            <a:ext cx="3092499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Perform lookups, complex calculations, and aggregations to derive meaningful metrics.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8250811" y="3611016"/>
            <a:ext cx="3247124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Visualization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8328124" y="4011066"/>
            <a:ext cx="3092499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Build KPIs, pivot tables, and interactive charts to generate actionable business insights.</a:t>
            </a:r>
            <a:endParaRPr/>
          </a:p>
        </p:txBody>
      </p:sp>
      <p:pic>
        <p:nvPicPr>
          <p:cNvPr id="127" name="Google Shape;127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151012" y="3039516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953125" y="3039516"/>
            <a:ext cx="2857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683799" y="3039516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5"/>
          <p:cNvSpPr txBox="1"/>
          <p:nvPr/>
        </p:nvSpPr>
        <p:spPr>
          <a:xfrm>
            <a:off x="571500" y="476250"/>
            <a:ext cx="1160145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Project Objectives</a:t>
            </a:r>
            <a:endParaRPr/>
          </a:p>
        </p:txBody>
      </p:sp>
      <p:sp>
        <p:nvSpPr>
          <p:cNvPr id="131" name="Google Shape;131;p15"/>
          <p:cNvSpPr/>
          <p:nvPr/>
        </p:nvSpPr>
        <p:spPr>
          <a:xfrm>
            <a:off x="571500" y="108585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271712"/>
            <a:ext cx="5238750" cy="332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2271712"/>
            <a:ext cx="5238750" cy="2390775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6"/>
          <p:cNvSpPr txBox="1"/>
          <p:nvPr/>
        </p:nvSpPr>
        <p:spPr>
          <a:xfrm>
            <a:off x="866775" y="2566987"/>
            <a:ext cx="488061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28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Dimension Tables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6677025" y="2566987"/>
            <a:ext cx="488061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28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Fact Tables</a:t>
            </a:r>
            <a:endParaRPr/>
          </a:p>
        </p:txBody>
      </p:sp>
      <p:pic>
        <p:nvPicPr>
          <p:cNvPr id="141" name="Google Shape;141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66775" y="2586037"/>
            <a:ext cx="177551" cy="178296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6"/>
          <p:cNvSpPr txBox="1"/>
          <p:nvPr/>
        </p:nvSpPr>
        <p:spPr>
          <a:xfrm>
            <a:off x="1200150" y="2786062"/>
            <a:ext cx="43148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76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DimCustomer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1200150" y="3205162"/>
            <a:ext cx="43148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76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DimDate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1200150" y="3624262"/>
            <a:ext cx="43148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76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DimProduct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1200150" y="4043362"/>
            <a:ext cx="43148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76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DimProductCategory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1200150" y="4462462"/>
            <a:ext cx="43148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76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DimProductSubCategory</a:t>
            </a:r>
            <a:endParaRPr/>
          </a:p>
        </p:txBody>
      </p:sp>
      <p:sp>
        <p:nvSpPr>
          <p:cNvPr id="147" name="Google Shape;147;p16"/>
          <p:cNvSpPr txBox="1"/>
          <p:nvPr/>
        </p:nvSpPr>
        <p:spPr>
          <a:xfrm>
            <a:off x="1200150" y="4881562"/>
            <a:ext cx="43148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76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DimSalesTerritory</a:t>
            </a:r>
            <a:endParaRPr/>
          </a:p>
        </p:txBody>
      </p:sp>
      <p:pic>
        <p:nvPicPr>
          <p:cNvPr id="148" name="Google Shape;148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677025" y="2586037"/>
            <a:ext cx="177551" cy="178296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6"/>
          <p:cNvSpPr txBox="1"/>
          <p:nvPr/>
        </p:nvSpPr>
        <p:spPr>
          <a:xfrm>
            <a:off x="7010400" y="2786062"/>
            <a:ext cx="43148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76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FactInternetSales</a:t>
            </a:r>
            <a:endParaRPr/>
          </a:p>
        </p:txBody>
      </p:sp>
      <p:sp>
        <p:nvSpPr>
          <p:cNvPr id="150" name="Google Shape;150;p16"/>
          <p:cNvSpPr txBox="1"/>
          <p:nvPr/>
        </p:nvSpPr>
        <p:spPr>
          <a:xfrm>
            <a:off x="7010400" y="3205162"/>
            <a:ext cx="43148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76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Fact_Internet_Sales_New</a:t>
            </a:r>
            <a:endParaRPr/>
          </a:p>
        </p:txBody>
      </p:sp>
      <p:pic>
        <p:nvPicPr>
          <p:cNvPr id="151" name="Google Shape;151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819900" y="3862387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6"/>
          <p:cNvSpPr txBox="1"/>
          <p:nvPr/>
        </p:nvSpPr>
        <p:spPr>
          <a:xfrm>
            <a:off x="914400" y="2786062"/>
            <a:ext cx="104775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78D4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53" name="Google Shape;153;p16"/>
          <p:cNvSpPr txBox="1"/>
          <p:nvPr/>
        </p:nvSpPr>
        <p:spPr>
          <a:xfrm>
            <a:off x="914400" y="3205162"/>
            <a:ext cx="104775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78D4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54" name="Google Shape;154;p16"/>
          <p:cNvSpPr txBox="1"/>
          <p:nvPr/>
        </p:nvSpPr>
        <p:spPr>
          <a:xfrm>
            <a:off x="914400" y="3624262"/>
            <a:ext cx="104775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78D4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55" name="Google Shape;155;p16"/>
          <p:cNvSpPr txBox="1"/>
          <p:nvPr/>
        </p:nvSpPr>
        <p:spPr>
          <a:xfrm>
            <a:off x="914400" y="4043362"/>
            <a:ext cx="104775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78D4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56" name="Google Shape;156;p16"/>
          <p:cNvSpPr txBox="1"/>
          <p:nvPr/>
        </p:nvSpPr>
        <p:spPr>
          <a:xfrm>
            <a:off x="914400" y="4462462"/>
            <a:ext cx="104775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78D4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57" name="Google Shape;157;p16"/>
          <p:cNvSpPr txBox="1"/>
          <p:nvPr/>
        </p:nvSpPr>
        <p:spPr>
          <a:xfrm>
            <a:off x="914400" y="4881562"/>
            <a:ext cx="104775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78D4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58" name="Google Shape;158;p16"/>
          <p:cNvSpPr txBox="1"/>
          <p:nvPr/>
        </p:nvSpPr>
        <p:spPr>
          <a:xfrm>
            <a:off x="6724650" y="2786062"/>
            <a:ext cx="104775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78D4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59" name="Google Shape;159;p16"/>
          <p:cNvSpPr txBox="1"/>
          <p:nvPr/>
        </p:nvSpPr>
        <p:spPr>
          <a:xfrm>
            <a:off x="6724650" y="3205162"/>
            <a:ext cx="104775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78D4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60" name="Google Shape;160;p16"/>
          <p:cNvSpPr txBox="1"/>
          <p:nvPr/>
        </p:nvSpPr>
        <p:spPr>
          <a:xfrm>
            <a:off x="571500" y="476250"/>
            <a:ext cx="1160145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Dataset Overview</a:t>
            </a:r>
            <a:endParaRPr/>
          </a:p>
        </p:txBody>
      </p:sp>
      <p:sp>
        <p:nvSpPr>
          <p:cNvPr id="161" name="Google Shape;161;p16"/>
          <p:cNvSpPr/>
          <p:nvPr/>
        </p:nvSpPr>
        <p:spPr>
          <a:xfrm>
            <a:off x="571500" y="108585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7"/>
          <p:cNvSpPr txBox="1"/>
          <p:nvPr/>
        </p:nvSpPr>
        <p:spPr>
          <a:xfrm>
            <a:off x="571500" y="1328737"/>
            <a:ext cx="520065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Core Tool: Microsoft Excel</a:t>
            </a:r>
            <a:endParaRPr/>
          </a:p>
        </p:txBody>
      </p:sp>
      <p:sp>
        <p:nvSpPr>
          <p:cNvPr id="168" name="Google Shape;168;p17"/>
          <p:cNvSpPr/>
          <p:nvPr/>
        </p:nvSpPr>
        <p:spPr>
          <a:xfrm>
            <a:off x="571500" y="1938337"/>
            <a:ext cx="4953000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7"/>
          <p:cNvSpPr txBox="1"/>
          <p:nvPr/>
        </p:nvSpPr>
        <p:spPr>
          <a:xfrm>
            <a:off x="904875" y="2338387"/>
            <a:ext cx="46196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76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Data Cleaning: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Removing duplicates and errors.</a:t>
            </a:r>
            <a:endParaRPr/>
          </a:p>
        </p:txBody>
      </p:sp>
      <p:sp>
        <p:nvSpPr>
          <p:cNvPr id="171" name="Google Shape;171;p17"/>
          <p:cNvSpPr txBox="1"/>
          <p:nvPr/>
        </p:nvSpPr>
        <p:spPr>
          <a:xfrm>
            <a:off x="904875" y="2900362"/>
            <a:ext cx="46196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76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Data Preparation: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Structuring for analysis.</a:t>
            </a:r>
            <a:endParaRPr/>
          </a:p>
        </p:txBody>
      </p:sp>
      <p:sp>
        <p:nvSpPr>
          <p:cNvPr id="172" name="Google Shape;172;p17"/>
          <p:cNvSpPr txBox="1"/>
          <p:nvPr/>
        </p:nvSpPr>
        <p:spPr>
          <a:xfrm>
            <a:off x="904875" y="3462337"/>
            <a:ext cx="46196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76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Lookup Functions: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VLOOKUP / XLOOKUP.</a:t>
            </a:r>
            <a:endParaRPr/>
          </a:p>
        </p:txBody>
      </p:sp>
      <p:sp>
        <p:nvSpPr>
          <p:cNvPr id="173" name="Google Shape;173;p17"/>
          <p:cNvSpPr txBox="1"/>
          <p:nvPr/>
        </p:nvSpPr>
        <p:spPr>
          <a:xfrm>
            <a:off x="904875" y="4024312"/>
            <a:ext cx="46196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76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Pivot Tables: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Dynamic summarization.</a:t>
            </a:r>
            <a:endParaRPr/>
          </a:p>
        </p:txBody>
      </p:sp>
      <p:sp>
        <p:nvSpPr>
          <p:cNvPr id="174" name="Google Shape;174;p17"/>
          <p:cNvSpPr txBox="1"/>
          <p:nvPr/>
        </p:nvSpPr>
        <p:spPr>
          <a:xfrm>
            <a:off x="904875" y="4586287"/>
            <a:ext cx="46196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76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Charts &amp; Dashboards: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Visual storytelling.</a:t>
            </a:r>
            <a:endParaRPr/>
          </a:p>
        </p:txBody>
      </p:sp>
      <p:sp>
        <p:nvSpPr>
          <p:cNvPr id="175" name="Google Shape;175;p17"/>
          <p:cNvSpPr txBox="1"/>
          <p:nvPr/>
        </p:nvSpPr>
        <p:spPr>
          <a:xfrm>
            <a:off x="904875" y="5148262"/>
            <a:ext cx="46196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76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KPI Calculations: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Measuring success.</a:t>
            </a:r>
            <a:endParaRPr/>
          </a:p>
        </p:txBody>
      </p:sp>
      <p:sp>
        <p:nvSpPr>
          <p:cNvPr id="176" name="Google Shape;176;p17"/>
          <p:cNvSpPr txBox="1"/>
          <p:nvPr/>
        </p:nvSpPr>
        <p:spPr>
          <a:xfrm>
            <a:off x="619125" y="2338387"/>
            <a:ext cx="104775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78D4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77" name="Google Shape;177;p17"/>
          <p:cNvSpPr txBox="1"/>
          <p:nvPr/>
        </p:nvSpPr>
        <p:spPr>
          <a:xfrm>
            <a:off x="619125" y="2900362"/>
            <a:ext cx="104775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78D4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78" name="Google Shape;178;p17"/>
          <p:cNvSpPr txBox="1"/>
          <p:nvPr/>
        </p:nvSpPr>
        <p:spPr>
          <a:xfrm>
            <a:off x="619125" y="3462337"/>
            <a:ext cx="104775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78D4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79" name="Google Shape;179;p17"/>
          <p:cNvSpPr txBox="1"/>
          <p:nvPr/>
        </p:nvSpPr>
        <p:spPr>
          <a:xfrm>
            <a:off x="619125" y="4024312"/>
            <a:ext cx="104775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78D4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80" name="Google Shape;180;p17"/>
          <p:cNvSpPr txBox="1"/>
          <p:nvPr/>
        </p:nvSpPr>
        <p:spPr>
          <a:xfrm>
            <a:off x="619125" y="4586287"/>
            <a:ext cx="104775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78D4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81" name="Google Shape;181;p17"/>
          <p:cNvSpPr txBox="1"/>
          <p:nvPr/>
        </p:nvSpPr>
        <p:spPr>
          <a:xfrm>
            <a:off x="619125" y="5148262"/>
            <a:ext cx="104775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78D4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A8CDAA2-EBE5-EEAD-0001-42578CD590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3125" y="707570"/>
            <a:ext cx="5836104" cy="468834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0886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8"/>
          <p:cNvSpPr txBox="1"/>
          <p:nvPr/>
        </p:nvSpPr>
        <p:spPr>
          <a:xfrm>
            <a:off x="571500" y="567690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1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*Used for proficiency building, not the main project.</a:t>
            </a:r>
            <a:endParaRPr/>
          </a:p>
        </p:txBody>
      </p:sp>
      <p:pic>
        <p:nvPicPr>
          <p:cNvPr id="188" name="Google Shape;188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6775" y="2405062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77025" y="2405062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66775" y="439578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8"/>
          <p:cNvSpPr txBox="1"/>
          <p:nvPr/>
        </p:nvSpPr>
        <p:spPr>
          <a:xfrm>
            <a:off x="1390650" y="1990725"/>
            <a:ext cx="4330541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SQL Server</a:t>
            </a:r>
            <a:endParaRPr/>
          </a:p>
        </p:txBody>
      </p:sp>
      <p:sp>
        <p:nvSpPr>
          <p:cNvPr id="192" name="Google Shape;192;p18"/>
          <p:cNvSpPr txBox="1"/>
          <p:nvPr/>
        </p:nvSpPr>
        <p:spPr>
          <a:xfrm>
            <a:off x="1390650" y="2400300"/>
            <a:ext cx="41243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Used for data extraction and joining tables efficiently.</a:t>
            </a:r>
            <a:endParaRPr/>
          </a:p>
        </p:txBody>
      </p:sp>
      <p:sp>
        <p:nvSpPr>
          <p:cNvPr id="193" name="Google Shape;193;p18"/>
          <p:cNvSpPr txBox="1"/>
          <p:nvPr/>
        </p:nvSpPr>
        <p:spPr>
          <a:xfrm>
            <a:off x="7200900" y="1990725"/>
            <a:ext cx="4330541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Power BI</a:t>
            </a:r>
            <a:endParaRPr/>
          </a:p>
        </p:txBody>
      </p:sp>
      <p:sp>
        <p:nvSpPr>
          <p:cNvPr id="194" name="Google Shape;194;p18"/>
          <p:cNvSpPr txBox="1"/>
          <p:nvPr/>
        </p:nvSpPr>
        <p:spPr>
          <a:xfrm>
            <a:off x="7200900" y="2400300"/>
            <a:ext cx="41243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Advanced data modeling and interactive dashboard creation.</a:t>
            </a:r>
            <a:endParaRPr/>
          </a:p>
        </p:txBody>
      </p:sp>
      <p:sp>
        <p:nvSpPr>
          <p:cNvPr id="195" name="Google Shape;195;p18"/>
          <p:cNvSpPr txBox="1"/>
          <p:nvPr/>
        </p:nvSpPr>
        <p:spPr>
          <a:xfrm>
            <a:off x="1438275" y="3981450"/>
            <a:ext cx="428053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Tableau</a:t>
            </a:r>
            <a:endParaRPr/>
          </a:p>
        </p:txBody>
      </p:sp>
      <p:sp>
        <p:nvSpPr>
          <p:cNvPr id="196" name="Google Shape;196;p18"/>
          <p:cNvSpPr txBox="1"/>
          <p:nvPr/>
        </p:nvSpPr>
        <p:spPr>
          <a:xfrm>
            <a:off x="1438275" y="4391025"/>
            <a:ext cx="40767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Building specialized and aesthetic visualizations.</a:t>
            </a:r>
            <a:endParaRPr/>
          </a:p>
        </p:txBody>
      </p:sp>
      <p:sp>
        <p:nvSpPr>
          <p:cNvPr id="197" name="Google Shape;197;p18"/>
          <p:cNvSpPr txBox="1"/>
          <p:nvPr/>
        </p:nvSpPr>
        <p:spPr>
          <a:xfrm>
            <a:off x="571500" y="476250"/>
            <a:ext cx="1160145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Tools Explored for Practice</a:t>
            </a:r>
            <a:endParaRPr/>
          </a:p>
        </p:txBody>
      </p:sp>
      <p:sp>
        <p:nvSpPr>
          <p:cNvPr id="198" name="Google Shape;198;p18"/>
          <p:cNvSpPr/>
          <p:nvPr/>
        </p:nvSpPr>
        <p:spPr>
          <a:xfrm>
            <a:off x="571500" y="108585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19"/>
          <p:cNvSpPr txBox="1"/>
          <p:nvPr/>
        </p:nvSpPr>
        <p:spPr>
          <a:xfrm>
            <a:off x="571500" y="1785937"/>
            <a:ext cx="550068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509E"/>
                </a:solidFill>
                <a:latin typeface="Inter"/>
                <a:ea typeface="Inter"/>
                <a:cs typeface="Inter"/>
                <a:sym typeface="Inter"/>
              </a:rPr>
              <a:t>Data Structure &amp; Lookups</a:t>
            </a:r>
            <a:endParaRPr/>
          </a:p>
        </p:txBody>
      </p:sp>
      <p:sp>
        <p:nvSpPr>
          <p:cNvPr id="205" name="Google Shape;205;p19"/>
          <p:cNvSpPr txBox="1"/>
          <p:nvPr/>
        </p:nvSpPr>
        <p:spPr>
          <a:xfrm>
            <a:off x="6381750" y="1785937"/>
            <a:ext cx="550068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509E"/>
                </a:solidFill>
                <a:latin typeface="Inter"/>
                <a:ea typeface="Inter"/>
                <a:cs typeface="Inter"/>
                <a:sym typeface="Inter"/>
              </a:rPr>
              <a:t>Calculated Fields</a:t>
            </a:r>
            <a:endParaRPr/>
          </a:p>
        </p:txBody>
      </p:sp>
      <p:sp>
        <p:nvSpPr>
          <p:cNvPr id="206" name="Google Shape;206;p19"/>
          <p:cNvSpPr/>
          <p:nvPr/>
        </p:nvSpPr>
        <p:spPr>
          <a:xfrm>
            <a:off x="762000" y="2252662"/>
            <a:ext cx="5048250" cy="590550"/>
          </a:xfrm>
          <a:prstGeom prst="roundRect">
            <a:avLst>
              <a:gd name="adj" fmla="val 9677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9"/>
          <p:cNvSpPr txBox="1"/>
          <p:nvPr/>
        </p:nvSpPr>
        <p:spPr>
          <a:xfrm>
            <a:off x="1238250" y="2395537"/>
            <a:ext cx="4381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Union of Fact Internet Sales tables</a:t>
            </a:r>
            <a:endParaRPr/>
          </a:p>
        </p:txBody>
      </p:sp>
      <p:sp>
        <p:nvSpPr>
          <p:cNvPr id="208" name="Google Shape;208;p19"/>
          <p:cNvSpPr/>
          <p:nvPr/>
        </p:nvSpPr>
        <p:spPr>
          <a:xfrm>
            <a:off x="762000" y="2252662"/>
            <a:ext cx="38100" cy="590550"/>
          </a:xfrm>
          <a:prstGeom prst="rect">
            <a:avLst/>
          </a:prstGeom>
          <a:solidFill>
            <a:srgbClr val="00509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9"/>
          <p:cNvSpPr/>
          <p:nvPr/>
        </p:nvSpPr>
        <p:spPr>
          <a:xfrm>
            <a:off x="762000" y="2957512"/>
            <a:ext cx="5048250" cy="590550"/>
          </a:xfrm>
          <a:prstGeom prst="roundRect">
            <a:avLst>
              <a:gd name="adj" fmla="val 9677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9"/>
          <p:cNvSpPr txBox="1"/>
          <p:nvPr/>
        </p:nvSpPr>
        <p:spPr>
          <a:xfrm>
            <a:off x="1238250" y="3100387"/>
            <a:ext cx="4381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Lookup Product Name (DimProduct → Sales)</a:t>
            </a:r>
            <a:endParaRPr/>
          </a:p>
        </p:txBody>
      </p:sp>
      <p:sp>
        <p:nvSpPr>
          <p:cNvPr id="211" name="Google Shape;211;p19"/>
          <p:cNvSpPr/>
          <p:nvPr/>
        </p:nvSpPr>
        <p:spPr>
          <a:xfrm>
            <a:off x="762000" y="2957512"/>
            <a:ext cx="38100" cy="590550"/>
          </a:xfrm>
          <a:prstGeom prst="rect">
            <a:avLst/>
          </a:prstGeom>
          <a:solidFill>
            <a:srgbClr val="00509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9"/>
          <p:cNvSpPr/>
          <p:nvPr/>
        </p:nvSpPr>
        <p:spPr>
          <a:xfrm>
            <a:off x="762000" y="3662362"/>
            <a:ext cx="5048250" cy="895350"/>
          </a:xfrm>
          <a:prstGeom prst="roundRect">
            <a:avLst>
              <a:gd name="adj" fmla="val 6382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9"/>
          <p:cNvSpPr txBox="1"/>
          <p:nvPr/>
        </p:nvSpPr>
        <p:spPr>
          <a:xfrm>
            <a:off x="1238250" y="3805237"/>
            <a:ext cx="43815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Lookup Customer Full Name (DimCustomer → Sales)</a:t>
            </a:r>
            <a:endParaRPr/>
          </a:p>
        </p:txBody>
      </p:sp>
      <p:sp>
        <p:nvSpPr>
          <p:cNvPr id="214" name="Google Shape;214;p19"/>
          <p:cNvSpPr/>
          <p:nvPr/>
        </p:nvSpPr>
        <p:spPr>
          <a:xfrm>
            <a:off x="762000" y="3662362"/>
            <a:ext cx="38100" cy="895350"/>
          </a:xfrm>
          <a:prstGeom prst="rect">
            <a:avLst/>
          </a:prstGeom>
          <a:solidFill>
            <a:srgbClr val="00509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9"/>
          <p:cNvSpPr/>
          <p:nvPr/>
        </p:nvSpPr>
        <p:spPr>
          <a:xfrm>
            <a:off x="762000" y="4672012"/>
            <a:ext cx="5048250" cy="590550"/>
          </a:xfrm>
          <a:prstGeom prst="roundRect">
            <a:avLst>
              <a:gd name="adj" fmla="val 9677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9"/>
          <p:cNvSpPr txBox="1"/>
          <p:nvPr/>
        </p:nvSpPr>
        <p:spPr>
          <a:xfrm>
            <a:off x="1238250" y="4814887"/>
            <a:ext cx="4381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Lookup Unit Price (DimProduct → Sales)</a:t>
            </a:r>
            <a:endParaRPr/>
          </a:p>
        </p:txBody>
      </p:sp>
      <p:sp>
        <p:nvSpPr>
          <p:cNvPr id="217" name="Google Shape;217;p19"/>
          <p:cNvSpPr/>
          <p:nvPr/>
        </p:nvSpPr>
        <p:spPr>
          <a:xfrm>
            <a:off x="762000" y="4672012"/>
            <a:ext cx="38100" cy="590550"/>
          </a:xfrm>
          <a:prstGeom prst="rect">
            <a:avLst/>
          </a:prstGeom>
          <a:solidFill>
            <a:srgbClr val="00509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9"/>
          <p:cNvSpPr/>
          <p:nvPr/>
        </p:nvSpPr>
        <p:spPr>
          <a:xfrm>
            <a:off x="762000" y="5376862"/>
            <a:ext cx="5048250" cy="590550"/>
          </a:xfrm>
          <a:prstGeom prst="roundRect">
            <a:avLst>
              <a:gd name="adj" fmla="val 9677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9"/>
          <p:cNvSpPr txBox="1"/>
          <p:nvPr/>
        </p:nvSpPr>
        <p:spPr>
          <a:xfrm>
            <a:off x="1238250" y="5519737"/>
            <a:ext cx="4381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Created proper Date field from OrderDateKey</a:t>
            </a:r>
            <a:endParaRPr/>
          </a:p>
        </p:txBody>
      </p:sp>
      <p:sp>
        <p:nvSpPr>
          <p:cNvPr id="220" name="Google Shape;220;p19"/>
          <p:cNvSpPr/>
          <p:nvPr/>
        </p:nvSpPr>
        <p:spPr>
          <a:xfrm>
            <a:off x="762000" y="5376862"/>
            <a:ext cx="38100" cy="590550"/>
          </a:xfrm>
          <a:prstGeom prst="rect">
            <a:avLst/>
          </a:prstGeom>
          <a:solidFill>
            <a:srgbClr val="00509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9"/>
          <p:cNvSpPr/>
          <p:nvPr/>
        </p:nvSpPr>
        <p:spPr>
          <a:xfrm>
            <a:off x="6572250" y="2252662"/>
            <a:ext cx="5048250" cy="590550"/>
          </a:xfrm>
          <a:prstGeom prst="roundRect">
            <a:avLst>
              <a:gd name="adj" fmla="val 9677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9"/>
          <p:cNvSpPr txBox="1"/>
          <p:nvPr/>
        </p:nvSpPr>
        <p:spPr>
          <a:xfrm>
            <a:off x="7048500" y="2395537"/>
            <a:ext cx="4381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Derived: Year, Month, Quarter, Weekday</a:t>
            </a:r>
            <a:endParaRPr/>
          </a:p>
        </p:txBody>
      </p:sp>
      <p:sp>
        <p:nvSpPr>
          <p:cNvPr id="223" name="Google Shape;223;p19"/>
          <p:cNvSpPr/>
          <p:nvPr/>
        </p:nvSpPr>
        <p:spPr>
          <a:xfrm>
            <a:off x="6572250" y="2252662"/>
            <a:ext cx="38100" cy="590550"/>
          </a:xfrm>
          <a:prstGeom prst="rect">
            <a:avLst/>
          </a:prstGeom>
          <a:solidFill>
            <a:srgbClr val="00509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9"/>
          <p:cNvSpPr/>
          <p:nvPr/>
        </p:nvSpPr>
        <p:spPr>
          <a:xfrm>
            <a:off x="6572250" y="2957512"/>
            <a:ext cx="5048250" cy="590550"/>
          </a:xfrm>
          <a:prstGeom prst="roundRect">
            <a:avLst>
              <a:gd name="adj" fmla="val 9677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9"/>
          <p:cNvSpPr txBox="1"/>
          <p:nvPr/>
        </p:nvSpPr>
        <p:spPr>
          <a:xfrm>
            <a:off x="7048500" y="3100387"/>
            <a:ext cx="4381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Financial Month &amp; Financial Quarter</a:t>
            </a:r>
            <a:endParaRPr/>
          </a:p>
        </p:txBody>
      </p:sp>
      <p:sp>
        <p:nvSpPr>
          <p:cNvPr id="226" name="Google Shape;226;p19"/>
          <p:cNvSpPr/>
          <p:nvPr/>
        </p:nvSpPr>
        <p:spPr>
          <a:xfrm>
            <a:off x="6572250" y="2957512"/>
            <a:ext cx="38100" cy="590550"/>
          </a:xfrm>
          <a:prstGeom prst="rect">
            <a:avLst/>
          </a:prstGeom>
          <a:solidFill>
            <a:srgbClr val="00509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9"/>
          <p:cNvSpPr/>
          <p:nvPr/>
        </p:nvSpPr>
        <p:spPr>
          <a:xfrm>
            <a:off x="6572250" y="3662362"/>
            <a:ext cx="5048250" cy="895350"/>
          </a:xfrm>
          <a:prstGeom prst="roundRect">
            <a:avLst>
              <a:gd name="adj" fmla="val 6382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9"/>
          <p:cNvSpPr txBox="1"/>
          <p:nvPr/>
        </p:nvSpPr>
        <p:spPr>
          <a:xfrm>
            <a:off x="7048500" y="3805237"/>
            <a:ext cx="43815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Sales Amount = Unit Price × Order Quantity - Discount</a:t>
            </a:r>
            <a:endParaRPr/>
          </a:p>
        </p:txBody>
      </p:sp>
      <p:sp>
        <p:nvSpPr>
          <p:cNvPr id="229" name="Google Shape;229;p19"/>
          <p:cNvSpPr/>
          <p:nvPr/>
        </p:nvSpPr>
        <p:spPr>
          <a:xfrm>
            <a:off x="6572250" y="3662362"/>
            <a:ext cx="38100" cy="895350"/>
          </a:xfrm>
          <a:prstGeom prst="rect">
            <a:avLst/>
          </a:prstGeom>
          <a:solidFill>
            <a:srgbClr val="00509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9"/>
          <p:cNvSpPr/>
          <p:nvPr/>
        </p:nvSpPr>
        <p:spPr>
          <a:xfrm>
            <a:off x="6572250" y="4672012"/>
            <a:ext cx="5048250" cy="590550"/>
          </a:xfrm>
          <a:prstGeom prst="roundRect">
            <a:avLst>
              <a:gd name="adj" fmla="val 9677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9"/>
          <p:cNvSpPr txBox="1"/>
          <p:nvPr/>
        </p:nvSpPr>
        <p:spPr>
          <a:xfrm>
            <a:off x="7048500" y="4814887"/>
            <a:ext cx="4381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Production Cost = Unit Cost × Order Quantity</a:t>
            </a:r>
            <a:endParaRPr/>
          </a:p>
        </p:txBody>
      </p:sp>
      <p:sp>
        <p:nvSpPr>
          <p:cNvPr id="232" name="Google Shape;232;p19"/>
          <p:cNvSpPr/>
          <p:nvPr/>
        </p:nvSpPr>
        <p:spPr>
          <a:xfrm>
            <a:off x="6572250" y="4672012"/>
            <a:ext cx="38100" cy="590550"/>
          </a:xfrm>
          <a:prstGeom prst="rect">
            <a:avLst/>
          </a:prstGeom>
          <a:solidFill>
            <a:srgbClr val="00509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9"/>
          <p:cNvSpPr/>
          <p:nvPr/>
        </p:nvSpPr>
        <p:spPr>
          <a:xfrm>
            <a:off x="6572250" y="5376862"/>
            <a:ext cx="5048250" cy="590550"/>
          </a:xfrm>
          <a:prstGeom prst="roundRect">
            <a:avLst>
              <a:gd name="adj" fmla="val 9677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9"/>
          <p:cNvSpPr txBox="1"/>
          <p:nvPr/>
        </p:nvSpPr>
        <p:spPr>
          <a:xfrm>
            <a:off x="7048500" y="5519737"/>
            <a:ext cx="4381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Profit = Sales Amount – Production Cost</a:t>
            </a:r>
            <a:endParaRPr/>
          </a:p>
        </p:txBody>
      </p:sp>
      <p:sp>
        <p:nvSpPr>
          <p:cNvPr id="235" name="Google Shape;235;p19"/>
          <p:cNvSpPr/>
          <p:nvPr/>
        </p:nvSpPr>
        <p:spPr>
          <a:xfrm>
            <a:off x="6572250" y="5376862"/>
            <a:ext cx="38100" cy="590550"/>
          </a:xfrm>
          <a:prstGeom prst="rect">
            <a:avLst/>
          </a:prstGeom>
          <a:solidFill>
            <a:srgbClr val="00509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6" name="Google Shape;236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42975" y="2447925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42975" y="315277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42975" y="4010025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42975" y="4867275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1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42975" y="5572125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19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753225" y="2447925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19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753225" y="315277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19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753225" y="4010025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19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6753225" y="4867275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19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6753225" y="5572125"/>
            <a:ext cx="23812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19"/>
          <p:cNvSpPr txBox="1"/>
          <p:nvPr/>
        </p:nvSpPr>
        <p:spPr>
          <a:xfrm>
            <a:off x="571500" y="476250"/>
            <a:ext cx="1160145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Data Preparation Tasks</a:t>
            </a:r>
            <a:endParaRPr/>
          </a:p>
        </p:txBody>
      </p:sp>
      <p:sp>
        <p:nvSpPr>
          <p:cNvPr id="247" name="Google Shape;247;p19"/>
          <p:cNvSpPr/>
          <p:nvPr/>
        </p:nvSpPr>
        <p:spPr>
          <a:xfrm>
            <a:off x="571500" y="108585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2" name="Google Shape;252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409825"/>
            <a:ext cx="5238750" cy="304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2409825"/>
            <a:ext cx="5238750" cy="262890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0"/>
          <p:cNvSpPr txBox="1"/>
          <p:nvPr/>
        </p:nvSpPr>
        <p:spPr>
          <a:xfrm>
            <a:off x="866775" y="2705100"/>
            <a:ext cx="488061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42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Standard Calendar</a:t>
            </a:r>
            <a:endParaRPr/>
          </a:p>
        </p:txBody>
      </p:sp>
      <p:sp>
        <p:nvSpPr>
          <p:cNvPr id="256" name="Google Shape;256;p20"/>
          <p:cNvSpPr txBox="1"/>
          <p:nvPr/>
        </p:nvSpPr>
        <p:spPr>
          <a:xfrm>
            <a:off x="6677025" y="2705100"/>
            <a:ext cx="488061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109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Operational Dates</a:t>
            </a:r>
            <a:endParaRPr/>
          </a:p>
        </p:txBody>
      </p:sp>
      <p:pic>
        <p:nvPicPr>
          <p:cNvPr id="257" name="Google Shape;257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66775" y="2724150"/>
            <a:ext cx="148976" cy="178296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20"/>
          <p:cNvSpPr txBox="1"/>
          <p:nvPr/>
        </p:nvSpPr>
        <p:spPr>
          <a:xfrm>
            <a:off x="1200150" y="3067050"/>
            <a:ext cx="43148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76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Year</a:t>
            </a:r>
            <a:endParaRPr/>
          </a:p>
        </p:txBody>
      </p:sp>
      <p:sp>
        <p:nvSpPr>
          <p:cNvPr id="259" name="Google Shape;259;p20"/>
          <p:cNvSpPr txBox="1"/>
          <p:nvPr/>
        </p:nvSpPr>
        <p:spPr>
          <a:xfrm>
            <a:off x="1200150" y="3486150"/>
            <a:ext cx="43148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76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Month No</a:t>
            </a:r>
            <a:endParaRPr/>
          </a:p>
        </p:txBody>
      </p:sp>
      <p:sp>
        <p:nvSpPr>
          <p:cNvPr id="260" name="Google Shape;260;p20"/>
          <p:cNvSpPr txBox="1"/>
          <p:nvPr/>
        </p:nvSpPr>
        <p:spPr>
          <a:xfrm>
            <a:off x="1200150" y="3905250"/>
            <a:ext cx="43148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76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Month Full Name</a:t>
            </a:r>
            <a:endParaRPr/>
          </a:p>
        </p:txBody>
      </p:sp>
      <p:sp>
        <p:nvSpPr>
          <p:cNvPr id="261" name="Google Shape;261;p20"/>
          <p:cNvSpPr txBox="1"/>
          <p:nvPr/>
        </p:nvSpPr>
        <p:spPr>
          <a:xfrm>
            <a:off x="1200150" y="4324350"/>
            <a:ext cx="43148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76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Quarter (Q1–Q4)</a:t>
            </a:r>
            <a:endParaRPr/>
          </a:p>
        </p:txBody>
      </p:sp>
      <p:sp>
        <p:nvSpPr>
          <p:cNvPr id="262" name="Google Shape;262;p20"/>
          <p:cNvSpPr txBox="1"/>
          <p:nvPr/>
        </p:nvSpPr>
        <p:spPr>
          <a:xfrm>
            <a:off x="1200150" y="4743450"/>
            <a:ext cx="43148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76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Year-Month (YYYY-MMM)</a:t>
            </a:r>
            <a:endParaRPr/>
          </a:p>
        </p:txBody>
      </p:sp>
      <p:pic>
        <p:nvPicPr>
          <p:cNvPr id="263" name="Google Shape;263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677025" y="2724150"/>
            <a:ext cx="215651" cy="178296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20"/>
          <p:cNvSpPr txBox="1"/>
          <p:nvPr/>
        </p:nvSpPr>
        <p:spPr>
          <a:xfrm>
            <a:off x="7010400" y="3067050"/>
            <a:ext cx="43148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76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Weekday No</a:t>
            </a:r>
            <a:endParaRPr/>
          </a:p>
        </p:txBody>
      </p:sp>
      <p:sp>
        <p:nvSpPr>
          <p:cNvPr id="265" name="Google Shape;265;p20"/>
          <p:cNvSpPr txBox="1"/>
          <p:nvPr/>
        </p:nvSpPr>
        <p:spPr>
          <a:xfrm>
            <a:off x="7010400" y="3486150"/>
            <a:ext cx="43148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76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Weekday Name</a:t>
            </a:r>
            <a:endParaRPr/>
          </a:p>
        </p:txBody>
      </p:sp>
      <p:sp>
        <p:nvSpPr>
          <p:cNvPr id="266" name="Google Shape;266;p20"/>
          <p:cNvSpPr txBox="1"/>
          <p:nvPr/>
        </p:nvSpPr>
        <p:spPr>
          <a:xfrm>
            <a:off x="7010400" y="3905250"/>
            <a:ext cx="43148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76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Financial Month</a:t>
            </a:r>
            <a:endParaRPr/>
          </a:p>
        </p:txBody>
      </p:sp>
      <p:sp>
        <p:nvSpPr>
          <p:cNvPr id="267" name="Google Shape;267;p20"/>
          <p:cNvSpPr txBox="1"/>
          <p:nvPr/>
        </p:nvSpPr>
        <p:spPr>
          <a:xfrm>
            <a:off x="7010400" y="4324350"/>
            <a:ext cx="43148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76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Financial Quarter</a:t>
            </a:r>
            <a:endParaRPr/>
          </a:p>
        </p:txBody>
      </p:sp>
      <p:sp>
        <p:nvSpPr>
          <p:cNvPr id="268" name="Google Shape;268;p20"/>
          <p:cNvSpPr txBox="1"/>
          <p:nvPr/>
        </p:nvSpPr>
        <p:spPr>
          <a:xfrm>
            <a:off x="914400" y="3067050"/>
            <a:ext cx="104775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78D4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69" name="Google Shape;269;p20"/>
          <p:cNvSpPr txBox="1"/>
          <p:nvPr/>
        </p:nvSpPr>
        <p:spPr>
          <a:xfrm>
            <a:off x="914400" y="3486150"/>
            <a:ext cx="104775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78D4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70" name="Google Shape;270;p20"/>
          <p:cNvSpPr txBox="1"/>
          <p:nvPr/>
        </p:nvSpPr>
        <p:spPr>
          <a:xfrm>
            <a:off x="914400" y="3905250"/>
            <a:ext cx="104775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78D4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71" name="Google Shape;271;p20"/>
          <p:cNvSpPr txBox="1"/>
          <p:nvPr/>
        </p:nvSpPr>
        <p:spPr>
          <a:xfrm>
            <a:off x="914400" y="4324350"/>
            <a:ext cx="104775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78D4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72" name="Google Shape;272;p20"/>
          <p:cNvSpPr txBox="1"/>
          <p:nvPr/>
        </p:nvSpPr>
        <p:spPr>
          <a:xfrm>
            <a:off x="914400" y="4743450"/>
            <a:ext cx="104775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78D4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73" name="Google Shape;273;p20"/>
          <p:cNvSpPr txBox="1"/>
          <p:nvPr/>
        </p:nvSpPr>
        <p:spPr>
          <a:xfrm>
            <a:off x="6724650" y="3067050"/>
            <a:ext cx="104775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78D4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74" name="Google Shape;274;p20"/>
          <p:cNvSpPr txBox="1"/>
          <p:nvPr/>
        </p:nvSpPr>
        <p:spPr>
          <a:xfrm>
            <a:off x="6724650" y="3486150"/>
            <a:ext cx="104775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78D4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75" name="Google Shape;275;p20"/>
          <p:cNvSpPr txBox="1"/>
          <p:nvPr/>
        </p:nvSpPr>
        <p:spPr>
          <a:xfrm>
            <a:off x="6724650" y="3905250"/>
            <a:ext cx="104775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78D4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76" name="Google Shape;276;p20"/>
          <p:cNvSpPr txBox="1"/>
          <p:nvPr/>
        </p:nvSpPr>
        <p:spPr>
          <a:xfrm>
            <a:off x="6724650" y="4324350"/>
            <a:ext cx="104775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78D4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77" name="Google Shape;277;p20"/>
          <p:cNvSpPr txBox="1"/>
          <p:nvPr/>
        </p:nvSpPr>
        <p:spPr>
          <a:xfrm>
            <a:off x="571500" y="476250"/>
            <a:ext cx="1160145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Date Intelligence Summary</a:t>
            </a:r>
            <a:endParaRPr/>
          </a:p>
        </p:txBody>
      </p:sp>
      <p:sp>
        <p:nvSpPr>
          <p:cNvPr id="278" name="Google Shape;278;p20"/>
          <p:cNvSpPr/>
          <p:nvPr/>
        </p:nvSpPr>
        <p:spPr>
          <a:xfrm>
            <a:off x="571500" y="108585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199382"/>
            <a:ext cx="2547937" cy="22687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05187" y="2199382"/>
            <a:ext cx="2547937" cy="22687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38875" y="2199382"/>
            <a:ext cx="2547937" cy="22687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072562" y="2199382"/>
            <a:ext cx="2547937" cy="22687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21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877419" y="4857750"/>
            <a:ext cx="4090924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21"/>
          <p:cNvSpPr txBox="1"/>
          <p:nvPr/>
        </p:nvSpPr>
        <p:spPr>
          <a:xfrm>
            <a:off x="717827" y="3132832"/>
            <a:ext cx="2255281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Sales Amount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dirty="0">
                <a:solidFill>
                  <a:srgbClr val="334155"/>
                </a:solidFill>
                <a:latin typeface="Inter"/>
                <a:ea typeface="Inter"/>
                <a:sym typeface="Inter"/>
              </a:rPr>
              <a:t>29.36M</a:t>
            </a:r>
            <a:endParaRPr dirty="0"/>
          </a:p>
        </p:txBody>
      </p:sp>
      <p:sp>
        <p:nvSpPr>
          <p:cNvPr id="292" name="Google Shape;292;p21"/>
          <p:cNvSpPr txBox="1"/>
          <p:nvPr/>
        </p:nvSpPr>
        <p:spPr>
          <a:xfrm>
            <a:off x="771525" y="3532882"/>
            <a:ext cx="2147887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Total revenue generated from all orders.</a:t>
            </a:r>
            <a:endParaRPr/>
          </a:p>
        </p:txBody>
      </p:sp>
      <p:sp>
        <p:nvSpPr>
          <p:cNvPr id="293" name="Google Shape;293;p21"/>
          <p:cNvSpPr txBox="1"/>
          <p:nvPr/>
        </p:nvSpPr>
        <p:spPr>
          <a:xfrm>
            <a:off x="3551515" y="3132832"/>
            <a:ext cx="2255281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Profit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dirty="0">
                <a:solidFill>
                  <a:srgbClr val="334155"/>
                </a:solidFill>
                <a:latin typeface="Inter"/>
                <a:ea typeface="Inter"/>
                <a:sym typeface="Inter"/>
              </a:rPr>
              <a:t>12.08M</a:t>
            </a:r>
            <a:endParaRPr dirty="0"/>
          </a:p>
        </p:txBody>
      </p:sp>
      <p:sp>
        <p:nvSpPr>
          <p:cNvPr id="294" name="Google Shape;294;p21"/>
          <p:cNvSpPr txBox="1"/>
          <p:nvPr/>
        </p:nvSpPr>
        <p:spPr>
          <a:xfrm>
            <a:off x="3605212" y="3532882"/>
            <a:ext cx="2147887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Net earnings after production costs.</a:t>
            </a:r>
            <a:endParaRPr/>
          </a:p>
        </p:txBody>
      </p:sp>
      <p:sp>
        <p:nvSpPr>
          <p:cNvPr id="295" name="Google Shape;295;p21"/>
          <p:cNvSpPr txBox="1"/>
          <p:nvPr/>
        </p:nvSpPr>
        <p:spPr>
          <a:xfrm>
            <a:off x="6385202" y="3132832"/>
            <a:ext cx="2255281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Profit %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41.1%</a:t>
            </a:r>
            <a:endParaRPr lang="en-US" sz="1650" b="1" i="0" u="none" strike="noStrike" cap="none" dirty="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6" name="Google Shape;296;p21"/>
          <p:cNvSpPr txBox="1"/>
          <p:nvPr/>
        </p:nvSpPr>
        <p:spPr>
          <a:xfrm>
            <a:off x="6438900" y="3532882"/>
            <a:ext cx="2147887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Profit margin efficiency.</a:t>
            </a:r>
            <a:endParaRPr/>
          </a:p>
        </p:txBody>
      </p:sp>
      <p:sp>
        <p:nvSpPr>
          <p:cNvPr id="297" name="Google Shape;297;p21"/>
          <p:cNvSpPr txBox="1"/>
          <p:nvPr/>
        </p:nvSpPr>
        <p:spPr>
          <a:xfrm>
            <a:off x="9218890" y="3132832"/>
            <a:ext cx="2255281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Total Orders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dirty="0">
                <a:solidFill>
                  <a:srgbClr val="334155"/>
                </a:solidFill>
                <a:latin typeface="Inter"/>
                <a:ea typeface="Inter"/>
                <a:sym typeface="Inter"/>
              </a:rPr>
              <a:t>6K</a:t>
            </a:r>
            <a:endParaRPr dirty="0"/>
          </a:p>
        </p:txBody>
      </p:sp>
      <p:sp>
        <p:nvSpPr>
          <p:cNvPr id="298" name="Google Shape;298;p21"/>
          <p:cNvSpPr txBox="1"/>
          <p:nvPr/>
        </p:nvSpPr>
        <p:spPr>
          <a:xfrm>
            <a:off x="9272587" y="3532882"/>
            <a:ext cx="2147887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Volume of successful transactions.</a:t>
            </a:r>
            <a:endParaRPr/>
          </a:p>
        </p:txBody>
      </p:sp>
      <p:sp>
        <p:nvSpPr>
          <p:cNvPr id="299" name="Google Shape;299;p21"/>
          <p:cNvSpPr txBox="1"/>
          <p:nvPr/>
        </p:nvSpPr>
        <p:spPr>
          <a:xfrm>
            <a:off x="4004354" y="5067300"/>
            <a:ext cx="3267127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Production Cost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dirty="0">
                <a:solidFill>
                  <a:srgbClr val="334155"/>
                </a:solidFill>
                <a:latin typeface="Inter"/>
                <a:ea typeface="Inter"/>
                <a:sym typeface="Inter"/>
              </a:rPr>
              <a:t>17.28M</a:t>
            </a:r>
            <a:endParaRPr dirty="0"/>
          </a:p>
        </p:txBody>
      </p:sp>
      <p:pic>
        <p:nvPicPr>
          <p:cNvPr id="302" name="Google Shape;302;p21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654968" y="2561332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21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536281" y="2561332"/>
            <a:ext cx="2857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21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7369968" y="2561332"/>
            <a:ext cx="2857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21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10132218" y="2561332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21"/>
          <p:cNvSpPr txBox="1"/>
          <p:nvPr/>
        </p:nvSpPr>
        <p:spPr>
          <a:xfrm>
            <a:off x="571500" y="476250"/>
            <a:ext cx="1160145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Key Performance Indicators</a:t>
            </a:r>
            <a:endParaRPr/>
          </a:p>
        </p:txBody>
      </p:sp>
      <p:sp>
        <p:nvSpPr>
          <p:cNvPr id="307" name="Google Shape;307;p21"/>
          <p:cNvSpPr/>
          <p:nvPr/>
        </p:nvSpPr>
        <p:spPr>
          <a:xfrm>
            <a:off x="571500" y="108585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871662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22"/>
          <p:cNvSpPr txBox="1"/>
          <p:nvPr/>
        </p:nvSpPr>
        <p:spPr>
          <a:xfrm>
            <a:off x="571500" y="1871662"/>
            <a:ext cx="5500687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Month vs Sales Analysis</a:t>
            </a:r>
            <a:endParaRPr/>
          </a:p>
        </p:txBody>
      </p:sp>
      <p:sp>
        <p:nvSpPr>
          <p:cNvPr id="315" name="Google Shape;315;p22"/>
          <p:cNvSpPr txBox="1"/>
          <p:nvPr/>
        </p:nvSpPr>
        <p:spPr>
          <a:xfrm>
            <a:off x="571500" y="2281237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 core part of the analysis involved creating dynamic pivot tables to understand temporal trends.</a:t>
            </a:r>
            <a:endParaRPr/>
          </a:p>
        </p:txBody>
      </p:sp>
      <p:sp>
        <p:nvSpPr>
          <p:cNvPr id="317" name="Google Shape;317;p22"/>
          <p:cNvSpPr/>
          <p:nvPr/>
        </p:nvSpPr>
        <p:spPr>
          <a:xfrm>
            <a:off x="762000" y="3176587"/>
            <a:ext cx="5048250" cy="590550"/>
          </a:xfrm>
          <a:prstGeom prst="roundRect">
            <a:avLst>
              <a:gd name="adj" fmla="val 9677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2"/>
          <p:cNvSpPr txBox="1"/>
          <p:nvPr/>
        </p:nvSpPr>
        <p:spPr>
          <a:xfrm>
            <a:off x="1238250" y="3319462"/>
            <a:ext cx="4381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Rows: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Month Name</a:t>
            </a:r>
            <a:endParaRPr/>
          </a:p>
        </p:txBody>
      </p:sp>
      <p:sp>
        <p:nvSpPr>
          <p:cNvPr id="319" name="Google Shape;319;p22"/>
          <p:cNvSpPr/>
          <p:nvPr/>
        </p:nvSpPr>
        <p:spPr>
          <a:xfrm>
            <a:off x="762000" y="3176587"/>
            <a:ext cx="38100" cy="590550"/>
          </a:xfrm>
          <a:prstGeom prst="rect">
            <a:avLst/>
          </a:prstGeom>
          <a:solidFill>
            <a:srgbClr val="00509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2"/>
          <p:cNvSpPr/>
          <p:nvPr/>
        </p:nvSpPr>
        <p:spPr>
          <a:xfrm>
            <a:off x="762000" y="3881437"/>
            <a:ext cx="5048250" cy="590550"/>
          </a:xfrm>
          <a:prstGeom prst="roundRect">
            <a:avLst>
              <a:gd name="adj" fmla="val 9677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2"/>
          <p:cNvSpPr txBox="1"/>
          <p:nvPr/>
        </p:nvSpPr>
        <p:spPr>
          <a:xfrm>
            <a:off x="1238250" y="4024312"/>
            <a:ext cx="4381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Values: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Sum of Sales Amount</a:t>
            </a:r>
            <a:endParaRPr/>
          </a:p>
        </p:txBody>
      </p:sp>
      <p:sp>
        <p:nvSpPr>
          <p:cNvPr id="322" name="Google Shape;322;p22"/>
          <p:cNvSpPr/>
          <p:nvPr/>
        </p:nvSpPr>
        <p:spPr>
          <a:xfrm>
            <a:off x="762000" y="3881437"/>
            <a:ext cx="38100" cy="590550"/>
          </a:xfrm>
          <a:prstGeom prst="rect">
            <a:avLst/>
          </a:prstGeom>
          <a:solidFill>
            <a:srgbClr val="00509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2"/>
          <p:cNvSpPr/>
          <p:nvPr/>
        </p:nvSpPr>
        <p:spPr>
          <a:xfrm>
            <a:off x="762000" y="4586287"/>
            <a:ext cx="5048250" cy="590550"/>
          </a:xfrm>
          <a:prstGeom prst="roundRect">
            <a:avLst>
              <a:gd name="adj" fmla="val 9677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2"/>
          <p:cNvSpPr txBox="1"/>
          <p:nvPr/>
        </p:nvSpPr>
        <p:spPr>
          <a:xfrm>
            <a:off x="1238250" y="4729162"/>
            <a:ext cx="4381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Filters: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Year</a:t>
            </a:r>
            <a:endParaRPr/>
          </a:p>
        </p:txBody>
      </p:sp>
      <p:sp>
        <p:nvSpPr>
          <p:cNvPr id="325" name="Google Shape;325;p22"/>
          <p:cNvSpPr/>
          <p:nvPr/>
        </p:nvSpPr>
        <p:spPr>
          <a:xfrm>
            <a:off x="762000" y="4586287"/>
            <a:ext cx="38100" cy="590550"/>
          </a:xfrm>
          <a:prstGeom prst="rect">
            <a:avLst/>
          </a:prstGeom>
          <a:solidFill>
            <a:srgbClr val="00509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22"/>
          <p:cNvSpPr/>
          <p:nvPr/>
        </p:nvSpPr>
        <p:spPr>
          <a:xfrm>
            <a:off x="762000" y="5291137"/>
            <a:ext cx="5048250" cy="590550"/>
          </a:xfrm>
          <a:prstGeom prst="roundRect">
            <a:avLst>
              <a:gd name="adj" fmla="val 9677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22"/>
          <p:cNvSpPr txBox="1"/>
          <p:nvPr/>
        </p:nvSpPr>
        <p:spPr>
          <a:xfrm>
            <a:off x="1238250" y="5434012"/>
            <a:ext cx="4381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Goal: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Identify seasonal sales spikes and dips.</a:t>
            </a:r>
            <a:endParaRPr/>
          </a:p>
        </p:txBody>
      </p:sp>
      <p:sp>
        <p:nvSpPr>
          <p:cNvPr id="328" name="Google Shape;328;p22"/>
          <p:cNvSpPr/>
          <p:nvPr/>
        </p:nvSpPr>
        <p:spPr>
          <a:xfrm>
            <a:off x="762000" y="5291137"/>
            <a:ext cx="38100" cy="590550"/>
          </a:xfrm>
          <a:prstGeom prst="rect">
            <a:avLst/>
          </a:prstGeom>
          <a:solidFill>
            <a:srgbClr val="00509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9" name="Google Shape;329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42975" y="337185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" name="Google Shape;330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42975" y="4076700"/>
            <a:ext cx="1619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42975" y="478155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2" name="Google Shape;332;p22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42975" y="5486400"/>
            <a:ext cx="14287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22"/>
          <p:cNvSpPr txBox="1"/>
          <p:nvPr/>
        </p:nvSpPr>
        <p:spPr>
          <a:xfrm>
            <a:off x="571500" y="476250"/>
            <a:ext cx="1160145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Pivot Table Analysis</a:t>
            </a:r>
            <a:endParaRPr/>
          </a:p>
        </p:txBody>
      </p:sp>
      <p:sp>
        <p:nvSpPr>
          <p:cNvPr id="334" name="Google Shape;334;p22"/>
          <p:cNvSpPr/>
          <p:nvPr/>
        </p:nvSpPr>
        <p:spPr>
          <a:xfrm>
            <a:off x="571500" y="108585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0547F5F-B8FB-E800-8F8D-6BE6927792B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57899" y="1219200"/>
            <a:ext cx="5781971" cy="45529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9" name="Google Shape;339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23"/>
          <p:cNvSpPr txBox="1"/>
          <p:nvPr/>
        </p:nvSpPr>
        <p:spPr>
          <a:xfrm>
            <a:off x="571500" y="5686425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Consistent year-over-year growth indicates successful market expansion strategies.</a:t>
            </a:r>
            <a:endParaRPr/>
          </a:p>
        </p:txBody>
      </p:sp>
      <p:sp>
        <p:nvSpPr>
          <p:cNvPr id="342" name="Google Shape;342;p23"/>
          <p:cNvSpPr txBox="1"/>
          <p:nvPr/>
        </p:nvSpPr>
        <p:spPr>
          <a:xfrm>
            <a:off x="571500" y="476250"/>
            <a:ext cx="1160145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Year-wise Sales Trends</a:t>
            </a:r>
            <a:endParaRPr/>
          </a:p>
        </p:txBody>
      </p:sp>
      <p:sp>
        <p:nvSpPr>
          <p:cNvPr id="343" name="Google Shape;343;p23"/>
          <p:cNvSpPr/>
          <p:nvPr/>
        </p:nvSpPr>
        <p:spPr>
          <a:xfrm>
            <a:off x="571500" y="108585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5046AF5-B670-A514-9015-49D410E3E2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971" y="1137918"/>
            <a:ext cx="10276115" cy="435800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" name="Google Shape;348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24"/>
          <p:cNvSpPr txBox="1"/>
          <p:nvPr/>
        </p:nvSpPr>
        <p:spPr>
          <a:xfrm>
            <a:off x="571500" y="5686425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Trend analysis shows peak performance in Q4 (Nov-Dec).</a:t>
            </a:r>
            <a:endParaRPr/>
          </a:p>
        </p:txBody>
      </p:sp>
      <p:sp>
        <p:nvSpPr>
          <p:cNvPr id="351" name="Google Shape;351;p24"/>
          <p:cNvSpPr txBox="1"/>
          <p:nvPr/>
        </p:nvSpPr>
        <p:spPr>
          <a:xfrm>
            <a:off x="571500" y="476250"/>
            <a:ext cx="1160145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Month-wise Sales Trend</a:t>
            </a:r>
            <a:endParaRPr/>
          </a:p>
        </p:txBody>
      </p:sp>
      <p:sp>
        <p:nvSpPr>
          <p:cNvPr id="352" name="Google Shape;352;p24"/>
          <p:cNvSpPr/>
          <p:nvPr/>
        </p:nvSpPr>
        <p:spPr>
          <a:xfrm>
            <a:off x="571500" y="108585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7D35AA5-EB78-A86A-36CD-9778790940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029" y="1195075"/>
            <a:ext cx="11506199" cy="446784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7" name="Google Shape;357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25"/>
          <p:cNvSpPr txBox="1"/>
          <p:nvPr/>
        </p:nvSpPr>
        <p:spPr>
          <a:xfrm>
            <a:off x="571500" y="476250"/>
            <a:ext cx="1160145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Quarterly Sales Distribution</a:t>
            </a:r>
            <a:endParaRPr/>
          </a:p>
        </p:txBody>
      </p:sp>
      <p:sp>
        <p:nvSpPr>
          <p:cNvPr id="369" name="Google Shape;369;p25"/>
          <p:cNvSpPr/>
          <p:nvPr/>
        </p:nvSpPr>
        <p:spPr>
          <a:xfrm>
            <a:off x="571500" y="108585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B7990AA-DDAE-F56B-7FDC-3BF6112022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9087" y="1209365"/>
            <a:ext cx="9428972" cy="443927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4" name="Google Shape;374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26"/>
          <p:cNvSpPr txBox="1"/>
          <p:nvPr/>
        </p:nvSpPr>
        <p:spPr>
          <a:xfrm>
            <a:off x="571500" y="1247775"/>
            <a:ext cx="520065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Sales vs. Production Cost</a:t>
            </a:r>
            <a:endParaRPr/>
          </a:p>
        </p:txBody>
      </p:sp>
      <p:sp>
        <p:nvSpPr>
          <p:cNvPr id="376" name="Google Shape;376;p26"/>
          <p:cNvSpPr/>
          <p:nvPr/>
        </p:nvSpPr>
        <p:spPr>
          <a:xfrm>
            <a:off x="571500" y="1857375"/>
            <a:ext cx="4953000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26"/>
          <p:cNvSpPr txBox="1"/>
          <p:nvPr/>
        </p:nvSpPr>
        <p:spPr>
          <a:xfrm>
            <a:off x="571500" y="2447925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This combo chart visualizes the relationship between gross revenue and production expenses.</a:t>
            </a:r>
            <a:endParaRPr/>
          </a:p>
        </p:txBody>
      </p:sp>
      <p:sp>
        <p:nvSpPr>
          <p:cNvPr id="379" name="Google Shape;379;p26"/>
          <p:cNvSpPr txBox="1"/>
          <p:nvPr/>
        </p:nvSpPr>
        <p:spPr>
          <a:xfrm>
            <a:off x="904875" y="3438525"/>
            <a:ext cx="46196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76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Bars: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Represent Total Sales Amount.</a:t>
            </a:r>
            <a:endParaRPr/>
          </a:p>
        </p:txBody>
      </p:sp>
      <p:sp>
        <p:nvSpPr>
          <p:cNvPr id="380" name="Google Shape;380;p26"/>
          <p:cNvSpPr txBox="1"/>
          <p:nvPr/>
        </p:nvSpPr>
        <p:spPr>
          <a:xfrm>
            <a:off x="904875" y="3857625"/>
            <a:ext cx="46196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76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Line: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Represents Total Production Cost.</a:t>
            </a:r>
            <a:endParaRPr/>
          </a:p>
        </p:txBody>
      </p:sp>
      <p:sp>
        <p:nvSpPr>
          <p:cNvPr id="381" name="Google Shape;381;p26"/>
          <p:cNvSpPr txBox="1"/>
          <p:nvPr/>
        </p:nvSpPr>
        <p:spPr>
          <a:xfrm>
            <a:off x="904875" y="4276725"/>
            <a:ext cx="4619625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76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Insight: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The gap between the bar and line represents the gross profit margin. We observe margins tightening in Q2 due to supply chain costs.</a:t>
            </a:r>
            <a:endParaRPr/>
          </a:p>
        </p:txBody>
      </p:sp>
      <p:sp>
        <p:nvSpPr>
          <p:cNvPr id="382" name="Google Shape;382;p26"/>
          <p:cNvSpPr txBox="1"/>
          <p:nvPr/>
        </p:nvSpPr>
        <p:spPr>
          <a:xfrm>
            <a:off x="619125" y="3438525"/>
            <a:ext cx="104775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78D4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83" name="Google Shape;383;p26"/>
          <p:cNvSpPr txBox="1"/>
          <p:nvPr/>
        </p:nvSpPr>
        <p:spPr>
          <a:xfrm>
            <a:off x="619125" y="3857625"/>
            <a:ext cx="104775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78D4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84" name="Google Shape;384;p26"/>
          <p:cNvSpPr txBox="1"/>
          <p:nvPr/>
        </p:nvSpPr>
        <p:spPr>
          <a:xfrm>
            <a:off x="619125" y="4276725"/>
            <a:ext cx="104775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78D4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F6051C8-0392-B011-F188-598BA07607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4500" y="1161735"/>
            <a:ext cx="6667500" cy="471927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" name="Google Shape;389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0" name="Google Shape;390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633537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p27"/>
          <p:cNvSpPr txBox="1"/>
          <p:nvPr/>
        </p:nvSpPr>
        <p:spPr>
          <a:xfrm>
            <a:off x="571500" y="1633537"/>
            <a:ext cx="5500687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Category Insights</a:t>
            </a:r>
            <a:endParaRPr/>
          </a:p>
        </p:txBody>
      </p:sp>
      <p:pic>
        <p:nvPicPr>
          <p:cNvPr id="393" name="Google Shape;393;p2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1633537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p27"/>
          <p:cNvSpPr/>
          <p:nvPr/>
        </p:nvSpPr>
        <p:spPr>
          <a:xfrm>
            <a:off x="762000" y="1852612"/>
            <a:ext cx="5048250" cy="895350"/>
          </a:xfrm>
          <a:prstGeom prst="roundRect">
            <a:avLst>
              <a:gd name="adj" fmla="val 6382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27"/>
          <p:cNvSpPr txBox="1"/>
          <p:nvPr/>
        </p:nvSpPr>
        <p:spPr>
          <a:xfrm>
            <a:off x="1238249" y="1995487"/>
            <a:ext cx="4691063" cy="763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en-US" sz="1500" b="1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Bikes: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Highest revenue contributor with 28.32M in sales but lower profit margins per unit </a:t>
            </a:r>
            <a:r>
              <a:rPr lang="en-IN" sz="16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(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11.51M).</a:t>
            </a:r>
            <a:endParaRPr dirty="0"/>
          </a:p>
        </p:txBody>
      </p:sp>
      <p:sp>
        <p:nvSpPr>
          <p:cNvPr id="396" name="Google Shape;396;p27"/>
          <p:cNvSpPr/>
          <p:nvPr/>
        </p:nvSpPr>
        <p:spPr>
          <a:xfrm>
            <a:off x="762000" y="1852612"/>
            <a:ext cx="38100" cy="895350"/>
          </a:xfrm>
          <a:prstGeom prst="rect">
            <a:avLst/>
          </a:prstGeom>
          <a:solidFill>
            <a:srgbClr val="00509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27"/>
          <p:cNvSpPr/>
          <p:nvPr/>
        </p:nvSpPr>
        <p:spPr>
          <a:xfrm>
            <a:off x="762000" y="2862262"/>
            <a:ext cx="5048250" cy="895350"/>
          </a:xfrm>
          <a:prstGeom prst="roundRect">
            <a:avLst>
              <a:gd name="adj" fmla="val 6382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27"/>
          <p:cNvSpPr/>
          <p:nvPr/>
        </p:nvSpPr>
        <p:spPr>
          <a:xfrm>
            <a:off x="762000" y="2862262"/>
            <a:ext cx="38100" cy="895350"/>
          </a:xfrm>
          <a:prstGeom prst="rect">
            <a:avLst/>
          </a:prstGeom>
          <a:solidFill>
            <a:srgbClr val="00509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27"/>
          <p:cNvSpPr/>
          <p:nvPr/>
        </p:nvSpPr>
        <p:spPr>
          <a:xfrm>
            <a:off x="762000" y="3871912"/>
            <a:ext cx="5048250" cy="895350"/>
          </a:xfrm>
          <a:prstGeom prst="roundRect">
            <a:avLst>
              <a:gd name="adj" fmla="val 6382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27"/>
          <p:cNvSpPr txBox="1"/>
          <p:nvPr/>
        </p:nvSpPr>
        <p:spPr>
          <a:xfrm>
            <a:off x="1238250" y="4014787"/>
            <a:ext cx="43815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en-US" sz="1500" b="1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Clothing: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High margin with seasonal demand spikes </a:t>
            </a:r>
            <a:r>
              <a:rPr lang="en-IN" dirty="0"/>
              <a:t>— 0.34M in sales and 0.14M in profit.</a:t>
            </a:r>
            <a:endParaRPr dirty="0"/>
          </a:p>
        </p:txBody>
      </p:sp>
      <p:sp>
        <p:nvSpPr>
          <p:cNvPr id="402" name="Google Shape;402;p27"/>
          <p:cNvSpPr/>
          <p:nvPr/>
        </p:nvSpPr>
        <p:spPr>
          <a:xfrm>
            <a:off x="762000" y="3871912"/>
            <a:ext cx="38100" cy="895350"/>
          </a:xfrm>
          <a:prstGeom prst="rect">
            <a:avLst/>
          </a:prstGeom>
          <a:solidFill>
            <a:srgbClr val="00509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27"/>
          <p:cNvSpPr txBox="1"/>
          <p:nvPr/>
        </p:nvSpPr>
        <p:spPr>
          <a:xfrm>
            <a:off x="1181100" y="3014424"/>
            <a:ext cx="4381500" cy="763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Accessories: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Best volume-to-margin ratio</a:t>
            </a:r>
            <a:endParaRPr lang="en-US" sz="1500" dirty="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lvl="0">
              <a:lnSpc>
                <a:spcPct val="160000"/>
              </a:lnSpc>
            </a:pPr>
            <a:r>
              <a:rPr lang="en-IN" sz="1600" dirty="0"/>
              <a:t>— 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0.70M in sales and 0.44M in profit.</a:t>
            </a:r>
            <a:endParaRPr dirty="0"/>
          </a:p>
        </p:txBody>
      </p:sp>
      <p:pic>
        <p:nvPicPr>
          <p:cNvPr id="406" name="Google Shape;406;p2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42975" y="2200275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" name="Google Shape;408;p2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42975" y="4219575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9" name="Google Shape;409;p2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81062" y="3133145"/>
            <a:ext cx="21907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410" name="Google Shape;410;p27"/>
          <p:cNvSpPr txBox="1"/>
          <p:nvPr/>
        </p:nvSpPr>
        <p:spPr>
          <a:xfrm>
            <a:off x="571500" y="476250"/>
            <a:ext cx="1160145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Product Performance</a:t>
            </a:r>
            <a:endParaRPr/>
          </a:p>
        </p:txBody>
      </p:sp>
      <p:sp>
        <p:nvSpPr>
          <p:cNvPr id="411" name="Google Shape;411;p27"/>
          <p:cNvSpPr/>
          <p:nvPr/>
        </p:nvSpPr>
        <p:spPr>
          <a:xfrm>
            <a:off x="571500" y="108585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6" name="Google Shape;416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0886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28" name="Google Shape;428;p28"/>
          <p:cNvSpPr txBox="1"/>
          <p:nvPr/>
        </p:nvSpPr>
        <p:spPr>
          <a:xfrm>
            <a:off x="571500" y="476250"/>
            <a:ext cx="1160145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Customer Performance</a:t>
            </a:r>
            <a:endParaRPr/>
          </a:p>
        </p:txBody>
      </p:sp>
      <p:sp>
        <p:nvSpPr>
          <p:cNvPr id="429" name="Google Shape;429;p28"/>
          <p:cNvSpPr/>
          <p:nvPr/>
        </p:nvSpPr>
        <p:spPr>
          <a:xfrm>
            <a:off x="571500" y="108585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1354386-40F9-1BB2-E861-55496D683C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3047" y="1247470"/>
            <a:ext cx="7925906" cy="4363059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4" name="Google Shape;434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29"/>
          <p:cNvSpPr txBox="1"/>
          <p:nvPr/>
        </p:nvSpPr>
        <p:spPr>
          <a:xfrm>
            <a:off x="3348037" y="5838825"/>
            <a:ext cx="30670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Best Performing Region: North America</a:t>
            </a:r>
            <a:endParaRPr/>
          </a:p>
        </p:txBody>
      </p:sp>
      <p:sp>
        <p:nvSpPr>
          <p:cNvPr id="437" name="Google Shape;437;p29"/>
          <p:cNvSpPr txBox="1"/>
          <p:nvPr/>
        </p:nvSpPr>
        <p:spPr>
          <a:xfrm>
            <a:off x="6605587" y="5838825"/>
            <a:ext cx="22383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Growth Opportunity: Pacific</a:t>
            </a:r>
            <a:endParaRPr/>
          </a:p>
        </p:txBody>
      </p:sp>
      <p:sp>
        <p:nvSpPr>
          <p:cNvPr id="438" name="Google Shape;438;p29"/>
          <p:cNvSpPr txBox="1"/>
          <p:nvPr/>
        </p:nvSpPr>
        <p:spPr>
          <a:xfrm>
            <a:off x="571500" y="476250"/>
            <a:ext cx="1160145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Regional Performance</a:t>
            </a:r>
            <a:endParaRPr/>
          </a:p>
        </p:txBody>
      </p:sp>
      <p:sp>
        <p:nvSpPr>
          <p:cNvPr id="439" name="Google Shape;439;p29"/>
          <p:cNvSpPr/>
          <p:nvPr/>
        </p:nvSpPr>
        <p:spPr>
          <a:xfrm>
            <a:off x="571500" y="108585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851F2B8-ABC3-5C54-3EC1-2224CD8E17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1835" y="1004549"/>
            <a:ext cx="9888330" cy="4653301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4" name="Google Shape;444;p3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45" name="Google Shape;445;p30"/>
          <p:cNvSpPr txBox="1"/>
          <p:nvPr/>
        </p:nvSpPr>
        <p:spPr>
          <a:xfrm>
            <a:off x="571500" y="1514475"/>
            <a:ext cx="520065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Executive Dashboard</a:t>
            </a:r>
            <a:endParaRPr/>
          </a:p>
        </p:txBody>
      </p:sp>
      <p:sp>
        <p:nvSpPr>
          <p:cNvPr id="446" name="Google Shape;446;p30"/>
          <p:cNvSpPr/>
          <p:nvPr/>
        </p:nvSpPr>
        <p:spPr>
          <a:xfrm>
            <a:off x="571500" y="2124075"/>
            <a:ext cx="4953000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30"/>
          <p:cNvSpPr txBox="1"/>
          <p:nvPr/>
        </p:nvSpPr>
        <p:spPr>
          <a:xfrm>
            <a:off x="571500" y="2714625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 comprehensive view of business health, integrating all key metrics into a single interface.</a:t>
            </a:r>
            <a:endParaRPr/>
          </a:p>
        </p:txBody>
      </p:sp>
      <p:sp>
        <p:nvSpPr>
          <p:cNvPr id="449" name="Google Shape;449;p30"/>
          <p:cNvSpPr txBox="1"/>
          <p:nvPr/>
        </p:nvSpPr>
        <p:spPr>
          <a:xfrm>
            <a:off x="904875" y="3705225"/>
            <a:ext cx="46196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76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Sales KPIs: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Immediate visibility on revenue.</a:t>
            </a:r>
            <a:endParaRPr/>
          </a:p>
        </p:txBody>
      </p:sp>
      <p:sp>
        <p:nvSpPr>
          <p:cNvPr id="450" name="Google Shape;450;p30"/>
          <p:cNvSpPr txBox="1"/>
          <p:nvPr/>
        </p:nvSpPr>
        <p:spPr>
          <a:xfrm>
            <a:off x="904875" y="4124325"/>
            <a:ext cx="46196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76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Trends: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Year-Month performance lines.</a:t>
            </a:r>
            <a:endParaRPr/>
          </a:p>
        </p:txBody>
      </p:sp>
      <p:sp>
        <p:nvSpPr>
          <p:cNvPr id="451" name="Google Shape;451;p30"/>
          <p:cNvSpPr txBox="1"/>
          <p:nvPr/>
        </p:nvSpPr>
        <p:spPr>
          <a:xfrm>
            <a:off x="904875" y="4543425"/>
            <a:ext cx="46196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76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Breakdowns: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Category and Region filters.</a:t>
            </a:r>
            <a:endParaRPr/>
          </a:p>
        </p:txBody>
      </p:sp>
      <p:sp>
        <p:nvSpPr>
          <p:cNvPr id="452" name="Google Shape;452;p30"/>
          <p:cNvSpPr txBox="1"/>
          <p:nvPr/>
        </p:nvSpPr>
        <p:spPr>
          <a:xfrm>
            <a:off x="904875" y="4962525"/>
            <a:ext cx="46196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76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Rankings: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Top products and customers tables.</a:t>
            </a:r>
            <a:endParaRPr/>
          </a:p>
        </p:txBody>
      </p:sp>
      <p:sp>
        <p:nvSpPr>
          <p:cNvPr id="453" name="Google Shape;453;p30"/>
          <p:cNvSpPr txBox="1"/>
          <p:nvPr/>
        </p:nvSpPr>
        <p:spPr>
          <a:xfrm>
            <a:off x="619125" y="3705225"/>
            <a:ext cx="104775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78D4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454" name="Google Shape;454;p30"/>
          <p:cNvSpPr txBox="1"/>
          <p:nvPr/>
        </p:nvSpPr>
        <p:spPr>
          <a:xfrm>
            <a:off x="619125" y="4124325"/>
            <a:ext cx="104775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78D4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455" name="Google Shape;455;p30"/>
          <p:cNvSpPr txBox="1"/>
          <p:nvPr/>
        </p:nvSpPr>
        <p:spPr>
          <a:xfrm>
            <a:off x="619125" y="4543425"/>
            <a:ext cx="104775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78D4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456" name="Google Shape;456;p30"/>
          <p:cNvSpPr txBox="1"/>
          <p:nvPr/>
        </p:nvSpPr>
        <p:spPr>
          <a:xfrm>
            <a:off x="619125" y="4962525"/>
            <a:ext cx="104775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78D4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3584EA7-193D-9918-1D10-07B5D8E7C0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05543"/>
            <a:ext cx="12192000" cy="531222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6F4C734-A97C-4AA8-02E9-805630934C1D}"/>
              </a:ext>
            </a:extLst>
          </p:cNvPr>
          <p:cNvSpPr txBox="1"/>
          <p:nvPr/>
        </p:nvSpPr>
        <p:spPr>
          <a:xfrm>
            <a:off x="152400" y="97971"/>
            <a:ext cx="43216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2"/>
                </a:solidFill>
              </a:rPr>
              <a:t>Dashboard-1</a:t>
            </a:r>
            <a:endParaRPr lang="en-IN" sz="2800" b="1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72767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32F314F9-6980-4DCE-43FB-52128FC3212F}"/>
              </a:ext>
            </a:extLst>
          </p:cNvPr>
          <p:cNvSpPr txBox="1"/>
          <p:nvPr/>
        </p:nvSpPr>
        <p:spPr>
          <a:xfrm>
            <a:off x="261258" y="199575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bg2"/>
                </a:solidFill>
              </a:rPr>
              <a:t>Dashboard-2</a:t>
            </a:r>
            <a:endParaRPr lang="en-IN" sz="2800" b="1" dirty="0">
              <a:solidFill>
                <a:schemeClr val="bg2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C1894D9-72DF-5437-4868-BA17E60CD1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807" y="1045029"/>
            <a:ext cx="11898385" cy="5494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7422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1" name="Google Shape;461;p3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62" name="Google Shape;462;p31"/>
          <p:cNvSpPr/>
          <p:nvPr/>
        </p:nvSpPr>
        <p:spPr>
          <a:xfrm>
            <a:off x="762000" y="1562100"/>
            <a:ext cx="10858500" cy="590550"/>
          </a:xfrm>
          <a:prstGeom prst="roundRect">
            <a:avLst>
              <a:gd name="adj" fmla="val 9677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31"/>
          <p:cNvSpPr txBox="1"/>
          <p:nvPr/>
        </p:nvSpPr>
        <p:spPr>
          <a:xfrm>
            <a:off x="1238250" y="1704975"/>
            <a:ext cx="10191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Revenue Driver: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Bikes contribute the highest total revenue, acting as the company's backbone.</a:t>
            </a:r>
            <a:endParaRPr/>
          </a:p>
        </p:txBody>
      </p:sp>
      <p:sp>
        <p:nvSpPr>
          <p:cNvPr id="464" name="Google Shape;464;p31"/>
          <p:cNvSpPr/>
          <p:nvPr/>
        </p:nvSpPr>
        <p:spPr>
          <a:xfrm>
            <a:off x="762000" y="1562100"/>
            <a:ext cx="38100" cy="590550"/>
          </a:xfrm>
          <a:prstGeom prst="rect">
            <a:avLst/>
          </a:prstGeom>
          <a:solidFill>
            <a:srgbClr val="00509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31"/>
          <p:cNvSpPr/>
          <p:nvPr/>
        </p:nvSpPr>
        <p:spPr>
          <a:xfrm>
            <a:off x="762000" y="2266950"/>
            <a:ext cx="10858500" cy="895350"/>
          </a:xfrm>
          <a:prstGeom prst="roundRect">
            <a:avLst>
              <a:gd name="adj" fmla="val 6382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31"/>
          <p:cNvSpPr txBox="1"/>
          <p:nvPr/>
        </p:nvSpPr>
        <p:spPr>
          <a:xfrm>
            <a:off x="1238250" y="2409825"/>
            <a:ext cx="10191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Seasonality: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Q3 and Q4 are consistently strong seasons, likely due to holiday sales and end-of-year clearances.</a:t>
            </a:r>
            <a:endParaRPr/>
          </a:p>
        </p:txBody>
      </p:sp>
      <p:sp>
        <p:nvSpPr>
          <p:cNvPr id="467" name="Google Shape;467;p31"/>
          <p:cNvSpPr/>
          <p:nvPr/>
        </p:nvSpPr>
        <p:spPr>
          <a:xfrm>
            <a:off x="762000" y="2266950"/>
            <a:ext cx="38100" cy="895350"/>
          </a:xfrm>
          <a:prstGeom prst="rect">
            <a:avLst/>
          </a:prstGeom>
          <a:solidFill>
            <a:srgbClr val="00509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31"/>
          <p:cNvSpPr/>
          <p:nvPr/>
        </p:nvSpPr>
        <p:spPr>
          <a:xfrm>
            <a:off x="762000" y="3276600"/>
            <a:ext cx="10858500" cy="895350"/>
          </a:xfrm>
          <a:prstGeom prst="roundRect">
            <a:avLst>
              <a:gd name="adj" fmla="val 6382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31"/>
          <p:cNvSpPr txBox="1"/>
          <p:nvPr/>
        </p:nvSpPr>
        <p:spPr>
          <a:xfrm>
            <a:off x="1238250" y="3419475"/>
            <a:ext cx="101917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Market Dominance: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Australia dominates sales volume, </a:t>
            </a:r>
            <a:r>
              <a:rPr lang="en-US" sz="150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Southeast and Central Regions are the less sales.</a:t>
            </a:r>
            <a:endParaRPr dirty="0"/>
          </a:p>
        </p:txBody>
      </p:sp>
      <p:sp>
        <p:nvSpPr>
          <p:cNvPr id="470" name="Google Shape;470;p31"/>
          <p:cNvSpPr/>
          <p:nvPr/>
        </p:nvSpPr>
        <p:spPr>
          <a:xfrm>
            <a:off x="762000" y="3276600"/>
            <a:ext cx="38100" cy="895350"/>
          </a:xfrm>
          <a:prstGeom prst="rect">
            <a:avLst/>
          </a:prstGeom>
          <a:solidFill>
            <a:srgbClr val="00509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31"/>
          <p:cNvSpPr/>
          <p:nvPr/>
        </p:nvSpPr>
        <p:spPr>
          <a:xfrm>
            <a:off x="762000" y="4286250"/>
            <a:ext cx="10858500" cy="895350"/>
          </a:xfrm>
          <a:prstGeom prst="roundRect">
            <a:avLst>
              <a:gd name="adj" fmla="val 6382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31"/>
          <p:cNvSpPr txBox="1"/>
          <p:nvPr/>
        </p:nvSpPr>
        <p:spPr>
          <a:xfrm>
            <a:off x="1238250" y="4429125"/>
            <a:ext cx="1019175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Margin Alert: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Bikes, Accessories, and Clothing show strong margins now</a:t>
            </a:r>
            <a:r>
              <a:rPr lang="en-US" sz="150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, monitoring ensures profitability remains stable across categories.</a:t>
            </a:r>
            <a:endParaRPr dirty="0"/>
          </a:p>
        </p:txBody>
      </p:sp>
      <p:sp>
        <p:nvSpPr>
          <p:cNvPr id="473" name="Google Shape;473;p31"/>
          <p:cNvSpPr/>
          <p:nvPr/>
        </p:nvSpPr>
        <p:spPr>
          <a:xfrm>
            <a:off x="762000" y="4286250"/>
            <a:ext cx="38100" cy="895350"/>
          </a:xfrm>
          <a:prstGeom prst="rect">
            <a:avLst/>
          </a:prstGeom>
          <a:solidFill>
            <a:srgbClr val="00509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77" name="Google Shape;477;p3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42975" y="1757362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8" name="Google Shape;478;p3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42975" y="362426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9" name="Google Shape;479;p3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42975" y="4633912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1"/>
          <p:cNvSpPr txBox="1"/>
          <p:nvPr/>
        </p:nvSpPr>
        <p:spPr>
          <a:xfrm>
            <a:off x="571500" y="476250"/>
            <a:ext cx="1160145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Key Insights</a:t>
            </a:r>
            <a:endParaRPr/>
          </a:p>
        </p:txBody>
      </p:sp>
      <p:sp>
        <p:nvSpPr>
          <p:cNvPr id="482" name="Google Shape;482;p31"/>
          <p:cNvSpPr/>
          <p:nvPr/>
        </p:nvSpPr>
        <p:spPr>
          <a:xfrm>
            <a:off x="571500" y="108585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4" name="Google Shape;514;p3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5" name="Google Shape;515;p3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76250"/>
            <a:ext cx="11049000" cy="5905500"/>
          </a:xfrm>
          <a:prstGeom prst="rect">
            <a:avLst/>
          </a:prstGeom>
          <a:noFill/>
          <a:ln>
            <a:noFill/>
          </a:ln>
        </p:spPr>
      </p:pic>
      <p:sp>
        <p:nvSpPr>
          <p:cNvPr id="516" name="Google Shape;516;p33"/>
          <p:cNvSpPr txBox="1"/>
          <p:nvPr/>
        </p:nvSpPr>
        <p:spPr>
          <a:xfrm>
            <a:off x="4505648" y="1602283"/>
            <a:ext cx="3180553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Conclusion</a:t>
            </a:r>
            <a:endParaRPr/>
          </a:p>
        </p:txBody>
      </p:sp>
      <p:sp>
        <p:nvSpPr>
          <p:cNvPr id="517" name="Google Shape;517;p33"/>
          <p:cNvSpPr/>
          <p:nvPr/>
        </p:nvSpPr>
        <p:spPr>
          <a:xfrm>
            <a:off x="5619750" y="2573833"/>
            <a:ext cx="95250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33"/>
          <p:cNvSpPr txBox="1"/>
          <p:nvPr/>
        </p:nvSpPr>
        <p:spPr>
          <a:xfrm>
            <a:off x="2476500" y="3107233"/>
            <a:ext cx="72390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90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Excel-based analysis revealed valuable business trends.</a:t>
            </a:r>
            <a:endParaRPr/>
          </a:p>
        </p:txBody>
      </p:sp>
      <p:sp>
        <p:nvSpPr>
          <p:cNvPr id="519" name="Google Shape;519;p33"/>
          <p:cNvSpPr txBox="1"/>
          <p:nvPr/>
        </p:nvSpPr>
        <p:spPr>
          <a:xfrm>
            <a:off x="2476500" y="3701504"/>
            <a:ext cx="72390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90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Provided strong visibility of products, customers, and regions.</a:t>
            </a:r>
            <a:endParaRPr/>
          </a:p>
        </p:txBody>
      </p:sp>
      <p:sp>
        <p:nvSpPr>
          <p:cNvPr id="520" name="Google Shape;520;p33"/>
          <p:cNvSpPr txBox="1"/>
          <p:nvPr/>
        </p:nvSpPr>
        <p:spPr>
          <a:xfrm>
            <a:off x="2476500" y="4295775"/>
            <a:ext cx="723900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90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Supports future decision-making and strategic growth initiatives.</a:t>
            </a:r>
            <a:endParaRPr/>
          </a:p>
        </p:txBody>
      </p:sp>
      <p:pic>
        <p:nvPicPr>
          <p:cNvPr id="521" name="Google Shape;521;p3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476500" y="3164383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2" name="Google Shape;522;p3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476500" y="3758654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3" name="Google Shape;523;p3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476500" y="4352925"/>
            <a:ext cx="200025" cy="22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8" name="Google Shape;528;p3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9" name="Google Shape;529;p3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87136"/>
            <a:ext cx="11049000" cy="5905500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34"/>
          <p:cNvSpPr txBox="1"/>
          <p:nvPr/>
        </p:nvSpPr>
        <p:spPr>
          <a:xfrm>
            <a:off x="3646714" y="2505670"/>
            <a:ext cx="5301343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b="1" i="0" u="none" strike="noStrike" cap="none" dirty="0">
                <a:solidFill>
                  <a:srgbClr val="00509E"/>
                </a:solidFill>
                <a:latin typeface="Inter"/>
                <a:ea typeface="Inter"/>
                <a:cs typeface="Inter"/>
                <a:sym typeface="Inter"/>
              </a:rPr>
              <a:t>Thank You!</a:t>
            </a:r>
            <a:endParaRPr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</TotalTime>
  <Words>809</Words>
  <Application>Microsoft Office PowerPoint</Application>
  <PresentationFormat>Widescreen</PresentationFormat>
  <Paragraphs>164</Paragraphs>
  <Slides>23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Calibri</vt:lpstr>
      <vt:lpstr>Inter SemiBold</vt:lpstr>
      <vt:lpstr>Arial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Karthik Sale</cp:lastModifiedBy>
  <cp:revision>6</cp:revision>
  <dcterms:modified xsi:type="dcterms:W3CDTF">2025-12-11T15:44:55Z</dcterms:modified>
</cp:coreProperties>
</file>